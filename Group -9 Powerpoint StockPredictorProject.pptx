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E78A90-6C1A-4BF6-B664-5D3775A4B854}">
  <a:tblStyle styleId="{CBE78A90-6C1A-4BF6-B664-5D3775A4B8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1762673c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1762673c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1762673c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1762673c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1762673c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1762673c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1762673c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1762673c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1762673c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1762673c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1762673ca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1762673ca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1762673ca_0_1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1762673ca_0_1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1762673ca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1762673ca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1762673ca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1762673ca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1762673ca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1762673ca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1762673ca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1762673ca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485925"/>
            <a:ext cx="8222100" cy="183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Stock Price Movement Prediction Using NYSE Dataset</a:t>
            </a:r>
            <a:endParaRPr sz="3600"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228406"/>
            <a:ext cx="8222100" cy="19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500">
                <a:solidFill>
                  <a:srgbClr val="FFFFFF"/>
                </a:solidFill>
              </a:rPr>
              <a:t>Presented by:</a:t>
            </a:r>
            <a:endParaRPr b="1"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i="1" lang="en" sz="1500">
                <a:solidFill>
                  <a:srgbClr val="FFFFFF"/>
                </a:solidFill>
              </a:rPr>
              <a:t>(Group 9)</a:t>
            </a:r>
            <a:endParaRPr b="1" i="1"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i="1"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i="1" lang="en" sz="1500">
                <a:solidFill>
                  <a:srgbClr val="FFFFFF"/>
                </a:solidFill>
              </a:rPr>
              <a:t>SATYA TEJ KAMMILI (satyatejkammili@my.unt.edu) 11911161</a:t>
            </a:r>
            <a:endParaRPr b="1" i="1"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i="1"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i="1" lang="en" sz="1500">
                <a:solidFill>
                  <a:srgbClr val="FFFFFF"/>
                </a:solidFill>
              </a:rPr>
              <a:t>MERLA GANESH REDDY (merlaganeshreddy@my.unt.edu) 11797294</a:t>
            </a:r>
            <a:endParaRPr b="1" i="1"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i="1"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i="1" lang="en" sz="1500">
                <a:solidFill>
                  <a:srgbClr val="FFFFFF"/>
                </a:solidFill>
              </a:rPr>
              <a:t>RUTHVIKA MUCHALA (ruthvikamuchala@my.unt.edu) 11906895</a:t>
            </a:r>
            <a:endParaRPr b="1" i="1"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i="1"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i="1" lang="en" sz="1500">
                <a:solidFill>
                  <a:srgbClr val="FFFFFF"/>
                </a:solidFill>
              </a:rPr>
              <a:t>KOUSHIK REDDY SUDIREDDY (koushikreddysudireddy@my.unt.edu) 11885863</a:t>
            </a:r>
            <a:endParaRPr b="1" i="1"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i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</a:rPr>
              <a:t>Purpose:</a:t>
            </a:r>
            <a:endParaRPr b="1" sz="2000">
              <a:solidFill>
                <a:srgbClr val="00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Predict next-day Up/Down for NYSE (2010–2016)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 </a:t>
            </a:r>
            <a:r>
              <a:rPr b="1" lang="en" sz="2000">
                <a:solidFill>
                  <a:srgbClr val="000000"/>
                </a:solidFill>
              </a:rPr>
              <a:t>Scope:</a:t>
            </a:r>
            <a:br>
              <a:rPr b="1" lang="en" sz="2000">
                <a:solidFill>
                  <a:srgbClr val="000000"/>
                </a:solidFill>
              </a:rPr>
            </a:br>
            <a:r>
              <a:rPr b="1" lang="en" sz="2000">
                <a:solidFill>
                  <a:srgbClr val="000000"/>
                </a:solidFill>
              </a:rPr>
              <a:t>	</a:t>
            </a:r>
            <a:r>
              <a:rPr lang="en" sz="2000">
                <a:solidFill>
                  <a:srgbClr val="000000"/>
                </a:solidFill>
              </a:rPr>
              <a:t> Full ML pipeline: Data → Features → Models → Evaluation.</a:t>
            </a:r>
            <a:br>
              <a:rPr lang="en" sz="2000">
                <a:solidFill>
                  <a:srgbClr val="000000"/>
                </a:solidFill>
              </a:rPr>
            </a:br>
            <a:br>
              <a:rPr lang="en" sz="2000">
                <a:solidFill>
                  <a:srgbClr val="000000"/>
                </a:solidFill>
              </a:rPr>
            </a:br>
            <a:r>
              <a:rPr b="1" lang="en" sz="2000">
                <a:solidFill>
                  <a:srgbClr val="000000"/>
                </a:solidFill>
              </a:rPr>
              <a:t>Model</a:t>
            </a:r>
            <a:r>
              <a:rPr b="1" lang="en" sz="2000">
                <a:solidFill>
                  <a:srgbClr val="000000"/>
                </a:solidFill>
              </a:rPr>
              <a:t>s:</a:t>
            </a:r>
            <a:br>
              <a:rPr b="1" lang="en" sz="2000">
                <a:solidFill>
                  <a:srgbClr val="000000"/>
                </a:solidFill>
              </a:rPr>
            </a:br>
            <a:r>
              <a:rPr b="1" lang="en" sz="2000">
                <a:solidFill>
                  <a:srgbClr val="000000"/>
                </a:solidFill>
              </a:rPr>
              <a:t>	</a:t>
            </a:r>
            <a:r>
              <a:rPr lang="en" sz="2000">
                <a:solidFill>
                  <a:srgbClr val="000000"/>
                </a:solidFill>
              </a:rPr>
              <a:t>Logistic Regression, Random Forest, XGBoost</a:t>
            </a:r>
            <a:endParaRPr b="1"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" sz="2000">
                <a:solidFill>
                  <a:srgbClr val="000000"/>
                </a:solidFill>
              </a:rPr>
              <a:t>Tools:</a:t>
            </a:r>
            <a:br>
              <a:rPr b="1" lang="en" sz="2000">
                <a:solidFill>
                  <a:srgbClr val="000000"/>
                </a:solidFill>
              </a:rPr>
            </a:br>
            <a:r>
              <a:rPr b="1" lang="en" sz="2000">
                <a:solidFill>
                  <a:srgbClr val="000000"/>
                </a:solidFill>
              </a:rPr>
              <a:t>	</a:t>
            </a:r>
            <a:r>
              <a:rPr lang="en" sz="2000">
                <a:solidFill>
                  <a:srgbClr val="000000"/>
                </a:solidFill>
              </a:rPr>
              <a:t>Python • Pandas • scikit-learn • XGBoost • Google Colab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&amp; Objectives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0000"/>
                </a:solidFill>
              </a:rPr>
              <a:t>Problem: </a:t>
            </a:r>
            <a:endParaRPr b="1" sz="1100">
              <a:solidFill>
                <a:srgbClr val="000000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Short-term market direction is noisy.</a:t>
            </a:r>
            <a:endParaRPr sz="1100">
              <a:solidFill>
                <a:srgbClr val="000000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0000"/>
                </a:solidFill>
              </a:rPr>
              <a:t> </a:t>
            </a:r>
            <a:r>
              <a:rPr b="1" lang="en" sz="1100">
                <a:solidFill>
                  <a:srgbClr val="000000"/>
                </a:solidFill>
              </a:rPr>
              <a:t>Objectives: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Feature design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Compare linear vs non-linear.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Evaluate with Accuracy/F1/ROC-AUC.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Data Description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Dataset:</a:t>
            </a:r>
            <a:r>
              <a:rPr lang="en" sz="1100">
                <a:solidFill>
                  <a:srgbClr val="000000"/>
                </a:solidFill>
              </a:rPr>
              <a:t> 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rgbClr val="000000"/>
                </a:solidFill>
              </a:rPr>
            </a:br>
            <a:r>
              <a:rPr lang="en" sz="1100">
                <a:solidFill>
                  <a:srgbClr val="000000"/>
                </a:solidFill>
              </a:rPr>
              <a:t>	NYSE daily OHLCV (2010–2016)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0000"/>
                </a:solidFill>
              </a:rPr>
              <a:t> </a:t>
            </a:r>
            <a:r>
              <a:rPr b="1" lang="en" sz="1100">
                <a:solidFill>
                  <a:srgbClr val="000000"/>
                </a:solidFill>
              </a:rPr>
              <a:t>Files: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Securities.csv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000000"/>
                </a:solidFill>
              </a:rPr>
              <a:t>P</a:t>
            </a:r>
            <a:r>
              <a:rPr lang="en" sz="1100">
                <a:solidFill>
                  <a:srgbClr val="000000"/>
                </a:solidFill>
              </a:rPr>
              <a:t>rices-split-adjusted.csv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Fundamentals.csv 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 </a:t>
            </a:r>
            <a:r>
              <a:rPr b="1" lang="en" sz="1100">
                <a:solidFill>
                  <a:srgbClr val="000000"/>
                </a:solidFill>
              </a:rPr>
              <a:t>Sample Size:</a:t>
            </a:r>
            <a:r>
              <a:rPr lang="en" sz="1100">
                <a:solidFill>
                  <a:srgbClr val="000000"/>
                </a:solidFill>
              </a:rPr>
              <a:t> 841 k records • 501 tickers and target ~52% Up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0000"/>
                </a:solidFill>
              </a:rPr>
              <a:t>Feature Groups: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</a:rPr>
              <a:t>Momentum:</a:t>
            </a:r>
            <a:r>
              <a:rPr lang="en" sz="1100">
                <a:solidFill>
                  <a:srgbClr val="000000"/>
                </a:solidFill>
              </a:rPr>
              <a:t> Lag returns (1d, 3d, 5d, 10d)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</a:rPr>
              <a:t>Volatility:</a:t>
            </a:r>
            <a:r>
              <a:rPr lang="en" sz="1100">
                <a:solidFill>
                  <a:srgbClr val="000000"/>
                </a:solidFill>
              </a:rPr>
              <a:t> Rolling mean &amp; std (5–20 days)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</a:rPr>
              <a:t>Volume:</a:t>
            </a:r>
            <a:r>
              <a:rPr lang="en" sz="1100">
                <a:solidFill>
                  <a:srgbClr val="000000"/>
                </a:solidFill>
              </a:rPr>
              <a:t> % change + rolling averages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</a:rPr>
              <a:t>Technical Indicators:</a:t>
            </a:r>
            <a:r>
              <a:rPr lang="en" sz="1100">
                <a:solidFill>
                  <a:srgbClr val="000000"/>
                </a:solidFill>
              </a:rPr>
              <a:t> RSI • MACD • Bollinger Bands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</a:rPr>
              <a:t>Calendar:</a:t>
            </a:r>
            <a:r>
              <a:rPr lang="en" sz="1100">
                <a:solidFill>
                  <a:srgbClr val="000000"/>
                </a:solidFill>
              </a:rPr>
              <a:t> Day of Week • Month • Quarter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7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2563" y="2502650"/>
            <a:ext cx="2105025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7600" y="3515125"/>
            <a:ext cx="1715250" cy="12931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5240700" y="2130738"/>
            <a:ext cx="12561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RSI plot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7089800" y="2982613"/>
            <a:ext cx="25719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Bollinger Band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Development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graphicFrame>
        <p:nvGraphicFramePr>
          <p:cNvPr id="103" name="Google Shape;103;p18"/>
          <p:cNvGraphicFramePr/>
          <p:nvPr/>
        </p:nvGraphicFramePr>
        <p:xfrm>
          <a:off x="825400" y="241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{CBE78A90-6C1A-4BF6-B664-5D3775A4B854}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Model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</a:t>
                      </a:r>
                      <a:r>
                        <a:rPr lang="en"/>
                        <a:t>Description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     </a:t>
                      </a:r>
                      <a:r>
                        <a:rPr lang="en"/>
                        <a:t>Notes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Logistic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Linear baseline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Interpretable, simple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Bagged trees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Handles non-linearity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XGBoost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Boosted trees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Highest accuracy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4" name="Google Shape;104;p18"/>
          <p:cNvSpPr/>
          <p:nvPr/>
        </p:nvSpPr>
        <p:spPr>
          <a:xfrm>
            <a:off x="471900" y="4166500"/>
            <a:ext cx="1631400" cy="669000"/>
          </a:xfrm>
          <a:prstGeom prst="homePlate">
            <a:avLst>
              <a:gd fmla="val 50000" name="adj"/>
            </a:avLst>
          </a:prstGeom>
          <a:solidFill>
            <a:srgbClr val="0D5C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Data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1771025" y="4166500"/>
            <a:ext cx="2064000" cy="669000"/>
          </a:xfrm>
          <a:prstGeom prst="chevron">
            <a:avLst>
              <a:gd fmla="val 50000" name="adj"/>
            </a:avLst>
          </a:prstGeom>
          <a:solidFill>
            <a:srgbClr val="0C57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Preprocessing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3472725" y="4166500"/>
            <a:ext cx="2064000" cy="669000"/>
          </a:xfrm>
          <a:prstGeom prst="chevron">
            <a:avLst>
              <a:gd fmla="val 50000" name="adj"/>
            </a:avLst>
          </a:prstGeom>
          <a:solidFill>
            <a:srgbClr val="0D5C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Feature Engineering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6866550" y="4166500"/>
            <a:ext cx="1696500" cy="669000"/>
          </a:xfrm>
          <a:prstGeom prst="chevron">
            <a:avLst>
              <a:gd fmla="val 50000" name="adj"/>
            </a:avLst>
          </a:prstGeom>
          <a:solidFill>
            <a:srgbClr val="0D5C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5180400" y="4166500"/>
            <a:ext cx="2064000" cy="669000"/>
          </a:xfrm>
          <a:prstGeom prst="chevron">
            <a:avLst>
              <a:gd fmla="val 50000" name="adj"/>
            </a:avLst>
          </a:prstGeom>
          <a:solidFill>
            <a:srgbClr val="0C57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Model Training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Model Evaluation</a:t>
            </a:r>
            <a:endParaRPr/>
          </a:p>
        </p:txBody>
      </p:sp>
      <p:graphicFrame>
        <p:nvGraphicFramePr>
          <p:cNvPr id="114" name="Google Shape;114;p19"/>
          <p:cNvGraphicFramePr/>
          <p:nvPr/>
        </p:nvGraphicFramePr>
        <p:xfrm>
          <a:off x="1617875" y="268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{CBE78A90-6C1A-4BF6-B664-5D3775A4B854}</a:tableStyleId>
              </a:tblPr>
              <a:tblGrid>
                <a:gridCol w="1447800"/>
                <a:gridCol w="1417900"/>
                <a:gridCol w="14777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Metric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Logistic Regression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XGBoost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0.508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0.508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ROC-AUC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</a:t>
                      </a:r>
                      <a:r>
                        <a:rPr lang="en"/>
                        <a:t>0.519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0.521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ROC-AUC Comparison</a:t>
            </a:r>
            <a:endParaRPr/>
          </a:p>
        </p:txBody>
      </p:sp>
      <p:pic>
        <p:nvPicPr>
          <p:cNvPr id="120" name="Google Shape;120;p20" title="auc_b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2700" y="2063400"/>
            <a:ext cx="5442525" cy="25722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/>
        </p:nvSpPr>
        <p:spPr>
          <a:xfrm>
            <a:off x="2766125" y="4575325"/>
            <a:ext cx="43959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XGBoost highest AUC (0.521)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&amp; Insights</a:t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Findings: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000000"/>
                </a:solidFill>
              </a:rPr>
              <a:t>AUC 0.51–0.52 → slightly above random (expected).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000000"/>
                </a:solidFill>
              </a:rPr>
              <a:t>XGBoost best → captures subtle non-linear patterns.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000000"/>
                </a:solidFill>
              </a:rPr>
              <a:t>RSI + Volume + Bollinger strongest combined signals.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000000"/>
                </a:solidFill>
              </a:rPr>
              <a:t>Small edge can matter at portfolio scale.</a:t>
            </a:r>
            <a:endParaRPr sz="11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&amp; Future Work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Limitations: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Daily data only; no macro/news/sentiment; no intraday.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Future: LSTM/Transformers, SHAP explainability, backtesting, sentiment &amp; macro features.</a:t>
            </a:r>
            <a:endParaRPr sz="11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3810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Reproducible end-to-end pipeline built.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845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XGBoost best (AUC ≈ 0.521).</a:t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-29845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Markets are noisy; weak but usable signals exist.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457200" lvl="0" marL="41148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457200" lvl="0" marL="41148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114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Git-hub 💻💻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/>
              <a:t>https://github.com/VirtualHost101/SatyaTej-StockPredictorProject.git</a:t>
            </a:r>
            <a:endParaRPr/>
          </a:p>
        </p:txBody>
      </p:sp>
      <p:pic>
        <p:nvPicPr>
          <p:cNvPr id="146" name="Google Shape;146;p24" title="any-questions_6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246" y="1919075"/>
            <a:ext cx="2536738" cy="27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